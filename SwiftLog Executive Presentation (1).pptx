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lus Jakarta Sans"/>
      <p:regular r:id="rId21"/>
      <p:bold r:id="rId22"/>
      <p:italic r:id="rId23"/>
      <p:boldItalic r:id="rId24"/>
    </p:embeddedFont>
    <p:embeddedFont>
      <p:font typeface="Space Grotesk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3A9233-47E3-4A02-91E6-4F63E9300C91}">
  <a:tblStyle styleId="{B13A9233-47E3-4A02-91E6-4F63E9300C9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usJakartaSans-bold.fntdata"/><Relationship Id="rId21" Type="http://schemas.openxmlformats.org/officeDocument/2006/relationships/font" Target="fonts/PlusJakartaSans-regular.fntdata"/><Relationship Id="rId24" Type="http://schemas.openxmlformats.org/officeDocument/2006/relationships/font" Target="fonts/PlusJakartaSans-boldItalic.fntdata"/><Relationship Id="rId23" Type="http://schemas.openxmlformats.org/officeDocument/2006/relationships/font" Target="fonts/PlusJakarta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paceGrotesk-bold.fntdata"/><Relationship Id="rId25" Type="http://schemas.openxmlformats.org/officeDocument/2006/relationships/font" Target="fonts/SpaceGrotesk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Relationship Id="rId4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10" Type="http://schemas.openxmlformats.org/officeDocument/2006/relationships/image" Target="../media/image18.png"/><Relationship Id="rId9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25.png"/><Relationship Id="rId7" Type="http://schemas.openxmlformats.org/officeDocument/2006/relationships/image" Target="../media/image6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6.png"/><Relationship Id="rId7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7" Type="http://schemas.openxmlformats.org/officeDocument/2006/relationships/image" Target="../media/image42.png"/><Relationship Id="rId8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35.png"/><Relationship Id="rId8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0.png"/><Relationship Id="rId4" Type="http://schemas.openxmlformats.org/officeDocument/2006/relationships/image" Target="../media/image36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457825"/>
            <a:ext cx="10972800" cy="79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677400" y="609600"/>
            <a:ext cx="1905000" cy="323850"/>
          </a:xfrm>
          <a:prstGeom prst="roundRect">
            <a:avLst>
              <a:gd fmla="val 50000" name="adj"/>
            </a:avLst>
          </a:prstGeom>
          <a:solidFill>
            <a:srgbClr val="1328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545782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3817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9829800" y="685800"/>
            <a:ext cx="1695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BRIEFING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2049809"/>
            <a:ext cx="101203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SUPPLY CHAIN &amp; OPERATIONS ANALYTICS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2402234"/>
            <a:ext cx="8601075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Executive Insights &amp; Strategic Optimization Roadmap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3769965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performance diagnostic, operational friction analysis, and commercial growth strategy for Nigerian hub operations.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057275" y="638175"/>
            <a:ext cx="279796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SWIFTLOG LOGISTICS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09600" y="5819775"/>
            <a:ext cx="3309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Aisha Mutiu Eniola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6076950"/>
            <a:ext cx="3309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Lead Data Analyst Intern | AnalystLab Africa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524750" y="5734050"/>
            <a:ext cx="13620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$14.81M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524750" y="6096000"/>
            <a:ext cx="13620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REVENUE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8905875" y="5734050"/>
            <a:ext cx="129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5,000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8905875" y="6096000"/>
            <a:ext cx="1295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ORDERS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0220325" y="5734050"/>
            <a:ext cx="13620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1,000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10220325" y="6096000"/>
            <a:ext cx="13620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ACTIVE CLIENTS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609600" y="1828800"/>
            <a:ext cx="5305425" cy="123825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09600" y="3257550"/>
            <a:ext cx="5305425" cy="123825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09600" y="4686300"/>
            <a:ext cx="5305425" cy="123825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7925" y="1352550"/>
            <a:ext cx="5324475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7450" y="1362075"/>
            <a:ext cx="5305425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208121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350996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493871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9582150" y="666750"/>
            <a:ext cx="25003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Multi-City Freight &amp; Distribution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09600" y="457200"/>
            <a:ext cx="7381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01. COMPANY FOOTPRINT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09600" y="666750"/>
            <a:ext cx="775096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Business Overview — SwiftLog Logistics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47725" y="2400300"/>
            <a:ext cx="4924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hub distribution operating across key Nigerian urban markets: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Lagos, Ibadan, Kano, and Abuja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47725" y="3829050"/>
            <a:ext cx="4924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Managing 250 active SKUs across three primary verticals: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Fashion (37.5%)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Electronics (32.2%)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and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Food (30.2%)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47725" y="5257800"/>
            <a:ext cx="4924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56,000 inventory units in circulation supporting over 3,000 completed shipments across regional routes.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181100" y="2066925"/>
            <a:ext cx="34504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Regional Commercial Footprint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181100" y="3495675"/>
            <a:ext cx="23377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Category Mix &amp; Scale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200150" y="4924425"/>
            <a:ext cx="266283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Throughput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/>
          <p:nvPr/>
        </p:nvSpPr>
        <p:spPr>
          <a:xfrm>
            <a:off x="609600" y="2509837"/>
            <a:ext cx="2600325" cy="2733675"/>
          </a:xfrm>
          <a:prstGeom prst="roundRect">
            <a:avLst>
              <a:gd fmla="val 439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400425" y="2509837"/>
            <a:ext cx="2600325" cy="2733675"/>
          </a:xfrm>
          <a:prstGeom prst="roundRect">
            <a:avLst>
              <a:gd fmla="val 439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191250" y="2509837"/>
            <a:ext cx="2600325" cy="2733675"/>
          </a:xfrm>
          <a:prstGeom prst="roundRect">
            <a:avLst>
              <a:gd fmla="val 439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8982075" y="2509837"/>
            <a:ext cx="2600325" cy="2733675"/>
          </a:xfrm>
          <a:prstGeom prst="roundRect">
            <a:avLst>
              <a:gd fmla="val 439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27860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6650" y="27860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7475" y="27860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58300" y="27860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290988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71900" y="290988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5587" y="2909887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53550" y="2909887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10058400" y="6667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BI Analytics Suite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09600" y="457200"/>
            <a:ext cx="68818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02. SCOPE &amp; MISSION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09600" y="666750"/>
            <a:ext cx="722590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Objectives &amp; Analytical Focus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85825" y="4795837"/>
            <a:ext cx="25598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$2.94M Avg Order Volume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3676650" y="4795837"/>
            <a:ext cx="25598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40% Delivery Delay Rate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467475" y="4795837"/>
            <a:ext cx="25598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224.12 Turnover Ratio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9258300" y="4795837"/>
            <a:ext cx="25598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5.05 Avg Orders / Client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85825" y="3433762"/>
            <a:ext cx="26878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Financial Velocity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885825" y="3748087"/>
            <a:ext cx="21431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Analyze top-line revenue trajectories, transaction value patterns, and order revenue generation.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3676650" y="3433762"/>
            <a:ext cx="26878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Fulfillment Health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3676650" y="3748087"/>
            <a:ext cx="21431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Diagnose dispatch lag, last-mile delay causes, and returned delivery friction points.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467475" y="3433762"/>
            <a:ext cx="26878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Inventory Control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6467475" y="3748087"/>
            <a:ext cx="21431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 stock movement speed, prevent critical stockouts, and manage warehouse holding capacity.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9258300" y="3433762"/>
            <a:ext cx="26878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 Retention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9258300" y="3748087"/>
            <a:ext cx="21431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Profile regional purchasing concentration, repeat order habits, and customer loyalty cohorts.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609600" y="2886075"/>
            <a:ext cx="2421731" cy="2019300"/>
          </a:xfrm>
          <a:prstGeom prst="roundRect">
            <a:avLst>
              <a:gd fmla="val 56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3459956" y="2886075"/>
            <a:ext cx="2421731" cy="2019300"/>
          </a:xfrm>
          <a:prstGeom prst="roundRect">
            <a:avLst>
              <a:gd fmla="val 56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10312" y="2886075"/>
            <a:ext cx="2421731" cy="2019300"/>
          </a:xfrm>
          <a:prstGeom prst="roundRect">
            <a:avLst>
              <a:gd fmla="val 56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9160668" y="2886075"/>
            <a:ext cx="2421731" cy="2019300"/>
          </a:xfrm>
          <a:prstGeom prst="roundRect">
            <a:avLst>
              <a:gd fmla="val 56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3731" y="3800475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4087" y="3800475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4443" y="3800475"/>
            <a:ext cx="1238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9877425" y="666750"/>
            <a:ext cx="21312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Query &amp; DAX Engine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09600" y="457200"/>
            <a:ext cx="63936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03. TECHNICAL ARCHITECTURE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09600" y="666750"/>
            <a:ext cx="671333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Pipeline &amp; Modeling Workflow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38200" y="3114675"/>
            <a:ext cx="2059781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3688556" y="3114675"/>
            <a:ext cx="2059781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538912" y="3114675"/>
            <a:ext cx="2059781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9389268" y="3114675"/>
            <a:ext cx="2059781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847725" y="3581400"/>
            <a:ext cx="255344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Multi-Source Extraction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847725" y="3867150"/>
            <a:ext cx="2040731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Ingested operational tables covering Orders, Clients, Inventory SKUs, Shipments, and Vendors.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3698081" y="3581400"/>
            <a:ext cx="255344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ETL Standardization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3698081" y="3867150"/>
            <a:ext cx="2040731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Query cleaning: resolved null values, corrected city spelling, and standardized timestamp formats.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548437" y="3581400"/>
            <a:ext cx="255344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Star Schema Modeling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6548437" y="3867150"/>
            <a:ext cx="2040731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Established 1:N relational links between central fact tables and dimensional lookup tables.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9398793" y="3581400"/>
            <a:ext cx="255344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DAX Analytics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9398793" y="3867150"/>
            <a:ext cx="2040731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Engineered custom metrics for Revenue, Delivery Delay %, Stock Turnover, and Order Velocity.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609600" y="2762250"/>
            <a:ext cx="3555950" cy="1019175"/>
          </a:xfrm>
          <a:prstGeom prst="roundRect">
            <a:avLst>
              <a:gd fmla="val 93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4317950" y="2762250"/>
            <a:ext cx="3555950" cy="1019175"/>
          </a:xfrm>
          <a:prstGeom prst="roundRect">
            <a:avLst>
              <a:gd fmla="val 93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8026300" y="2762250"/>
            <a:ext cx="3555950" cy="1019175"/>
          </a:xfrm>
          <a:prstGeom prst="roundRect">
            <a:avLst>
              <a:gd fmla="val 93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508646" y="3933825"/>
            <a:ext cx="3511153" cy="1019175"/>
          </a:xfrm>
          <a:prstGeom prst="roundRect">
            <a:avLst>
              <a:gd fmla="val 93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172200" y="3933825"/>
            <a:ext cx="3511153" cy="1019175"/>
          </a:xfrm>
          <a:prstGeom prst="roundRect">
            <a:avLst>
              <a:gd fmla="val 93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97656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7975" y="2976562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6325" y="2976562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8671" y="4148137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2225" y="4148137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10306050" y="666750"/>
            <a:ext cx="15954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BI Navigation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609600" y="457200"/>
            <a:ext cx="8548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04. INTERACTIVE BI SUITE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609600" y="666750"/>
            <a:ext cx="897612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Dashboard Architecture — 5 Specialized Pages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809625" y="3238500"/>
            <a:ext cx="3251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High-level revenue tracking, monthly growth trends, and order return root causes.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4517975" y="3238500"/>
            <a:ext cx="3251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City-level revenue distribution, purchase frequencies, and top account performance.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8226325" y="3238500"/>
            <a:ext cx="3251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Warehouse capacity gauges, stock movement speed, and automated reorder alerts.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2708671" y="4410075"/>
            <a:ext cx="320635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On-time delivery rates, transit delay analysis, and last-mile route tracking.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6372225" y="4410075"/>
            <a:ext cx="320635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Supplier fulfillment efficiency, lead time rankings, and category breakdown.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1076325" y="2962275"/>
            <a:ext cx="21502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Executive Overview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4832300" y="2962275"/>
            <a:ext cx="173771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Client Analytics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8540650" y="2962275"/>
            <a:ext cx="191273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Inventory Control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3022996" y="4133850"/>
            <a:ext cx="221277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Shipment &amp; Delivery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6686550" y="4133850"/>
            <a:ext cx="22502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Vendor Performance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/>
          <p:nvPr/>
        </p:nvSpPr>
        <p:spPr>
          <a:xfrm>
            <a:off x="609600" y="2371725"/>
            <a:ext cx="10972800" cy="2971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18"/>
          <p:cNvGraphicFramePr/>
          <p:nvPr/>
        </p:nvGraphicFramePr>
        <p:xfrm>
          <a:off x="609600" y="237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{B13A9233-47E3-4A02-91E6-4F63E9300C91}</a:tableStyleId>
              </a:tblPr>
              <a:tblGrid>
                <a:gridCol w="2038650"/>
                <a:gridCol w="3137300"/>
                <a:gridCol w="1832975"/>
                <a:gridCol w="3954375"/>
              </a:tblGrid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Metric Domain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Key Performance Indicator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Measured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Operational Benchmark &amp;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Financials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Total Commercial Revenue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$14.81M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Strong top-line revenue execution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Order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Placed vs. Shipped Orders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5,000 / 3,000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D9770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40% fulfillment shortfall identified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Customer 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Total Clients &amp; Order Frequency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1,000 / 5.05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 repeat purchase account loyalty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Inventory Velocity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Stock Turnover / Total Units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224.12 / 56K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Rapid stock rotation throughput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Fulfillment SLA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Delayed Shipments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1,200 (40.0%)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Critical bottleneck requiring intervention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2" name="Google Shape;212;p18"/>
          <p:cNvSpPr txBox="1"/>
          <p:nvPr/>
        </p:nvSpPr>
        <p:spPr>
          <a:xfrm>
            <a:off x="9886950" y="666750"/>
            <a:ext cx="21193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Validated Power BI Metrics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09600" y="457200"/>
            <a:ext cx="69175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05. OPERATIONAL PERFORMANCE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609600" y="666750"/>
            <a:ext cx="72634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Executive KPI Performance Scorecard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/>
          <p:nvPr/>
        </p:nvSpPr>
        <p:spPr>
          <a:xfrm>
            <a:off x="609600" y="1352550"/>
            <a:ext cx="3505200" cy="10668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4343400" y="1352550"/>
            <a:ext cx="3505200" cy="10668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8077200" y="1352550"/>
            <a:ext cx="3505200" cy="10668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609600" y="2686050"/>
            <a:ext cx="5372100" cy="371475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6210300" y="2686050"/>
            <a:ext cx="5372100" cy="371475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4" name="Google Shape;2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96227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296227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9705975" y="666750"/>
            <a:ext cx="23455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Dashboard Analysis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09600" y="4572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06. ANALYTICS INSIGHTS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609600" y="666750"/>
            <a:ext cx="8801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Revenue Dynamics &amp; Customer Segmentation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421481" y="1552575"/>
            <a:ext cx="38814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$14.81K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421481" y="2047875"/>
            <a:ext cx="38814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Revenue Per Client Account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4155281" y="1552575"/>
            <a:ext cx="38814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37.5%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4155281" y="2047875"/>
            <a:ext cx="38814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Fashion Share (Top Revenue Vertical)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7889081" y="1552575"/>
            <a:ext cx="38814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DC2626"/>
                </a:solidFill>
                <a:latin typeface="Space Grotesk"/>
                <a:ea typeface="Space Grotesk"/>
                <a:cs typeface="Space Grotesk"/>
                <a:sym typeface="Space Grotesk"/>
              </a:rPr>
              <a:t>2,000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7889081" y="2047875"/>
            <a:ext cx="38814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Orders Unfulfilled / Pending Backlog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847725" y="2924175"/>
            <a:ext cx="64258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Regional Concentration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847725" y="3257550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Top-line revenue generation is heavily concentrated in commercial hubs: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Ibadan, Kano, Lagos, and Abuja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847725" y="3800475"/>
            <a:ext cx="49911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repeat purchasing rate (5.05 avg) underscores strong client retention across regional centers.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6448425" y="2924175"/>
            <a:ext cx="57435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Return Drivers Breakdown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6448425" y="3257550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 Deliveries (42%)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represent the largest single cause of returned packages across transit routes.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6448425" y="3800475"/>
            <a:ext cx="49911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Secondary drivers: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Wrong Item Shipped (33%)</a:t>
            </a: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Damaged Packaging (25%)</a:t>
            </a: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during last-mile transit.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/>
          <p:nvPr/>
        </p:nvSpPr>
        <p:spPr>
          <a:xfrm>
            <a:off x="6276975" y="1852612"/>
            <a:ext cx="5305425" cy="1209675"/>
          </a:xfrm>
          <a:prstGeom prst="roundRect">
            <a:avLst>
              <a:gd fmla="val 944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6276975" y="3252787"/>
            <a:ext cx="5305425" cy="1209675"/>
          </a:xfrm>
          <a:prstGeom prst="roundRect">
            <a:avLst>
              <a:gd fmla="val 944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6276975" y="4652962"/>
            <a:ext cx="5305425" cy="1209675"/>
          </a:xfrm>
          <a:prstGeom prst="roundRect">
            <a:avLst>
              <a:gd fmla="val 944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10277475" y="2090737"/>
            <a:ext cx="1066800" cy="228600"/>
          </a:xfrm>
          <a:prstGeom prst="roundRect">
            <a:avLst>
              <a:gd fmla="val 50000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10058400" y="3490912"/>
            <a:ext cx="1285875" cy="228600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10201275" y="4891087"/>
            <a:ext cx="1143000" cy="228600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1" name="Google Shape;2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314450"/>
            <a:ext cx="5324475" cy="508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1323975"/>
            <a:ext cx="5305425" cy="50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/>
        </p:nvSpPr>
        <p:spPr>
          <a:xfrm>
            <a:off x="9448800" y="66675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Logistics &amp; Warehouse Diagnostic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09600" y="457200"/>
            <a:ext cx="7750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07. OPERATIONS DIAGNOSTIC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09600" y="666750"/>
            <a:ext cx="813851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Operational Bottlenecks &amp; Inventory Risks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515100" y="2395537"/>
            <a:ext cx="4924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40% of shipments experience delivery delays, primarily concentrated on long-haul transit routes connecting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Kano and Lagos hubs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515100" y="3795712"/>
            <a:ext cx="4924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Identified 10 fast-moving SKUs (e.g., P078, P034, P233) approaching buffer limits, threatening potential stockouts.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515100" y="5195887"/>
            <a:ext cx="4924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rotation velocity proves product demand, but uneven warehouse stock allocations restrict regional fulfillment speed.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6515100" y="2095500"/>
            <a:ext cx="22752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Transit Delay Friction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10372725" y="2128837"/>
            <a:ext cx="971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1,200 Delayed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6515100" y="3495675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Critical Low-Stock Alerts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10153650" y="3529012"/>
            <a:ext cx="1190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High-Risk SKUs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6515100" y="4895850"/>
            <a:ext cx="301287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Stock Velocity vs. Capacity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10296525" y="4929187"/>
            <a:ext cx="1047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224.12 Turnover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/>
          <p:nvPr/>
        </p:nvSpPr>
        <p:spPr>
          <a:xfrm>
            <a:off x="609600" y="2347912"/>
            <a:ext cx="3505200" cy="3057525"/>
          </a:xfrm>
          <a:prstGeom prst="roundRect">
            <a:avLst>
              <a:gd fmla="val 373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343400" y="2347912"/>
            <a:ext cx="3505200" cy="3057525"/>
          </a:xfrm>
          <a:prstGeom prst="roundRect">
            <a:avLst>
              <a:gd fmla="val 373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8077200" y="2347912"/>
            <a:ext cx="3505200" cy="3057525"/>
          </a:xfrm>
          <a:prstGeom prst="roundRect">
            <a:avLst>
              <a:gd fmla="val 373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923925" y="4729162"/>
            <a:ext cx="28765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4657725" y="4729162"/>
            <a:ext cx="28765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8391525" y="4729162"/>
            <a:ext cx="28765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5" name="Google Shape;2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6622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26622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26622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1562" y="2786062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81550" y="278606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29637" y="2786062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/>
        </p:nvSpPr>
        <p:spPr>
          <a:xfrm>
            <a:off x="10096500" y="666750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Action Plan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609600" y="457200"/>
            <a:ext cx="8084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08. STRATEGIC ROADMAP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609600" y="666750"/>
            <a:ext cx="848856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Supply Chain &amp; Logistics Recommendations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923925" y="4881562"/>
            <a:ext cx="2971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Target: Under 15% Delay Rate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4657725" y="4881562"/>
            <a:ext cx="2971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Target: Zero Packing Errors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8391525" y="4881562"/>
            <a:ext cx="2971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Target: Zero Out-of-Stock Events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923925" y="3309937"/>
            <a:ext cx="377547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Last-Mile SLA Enforcement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923925" y="3643312"/>
            <a:ext cx="2971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Institute strict dispatch cut-offs and financial penalty clauses for third-party logistics partners to curb the 40% delivery delay rate.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4657725" y="3309937"/>
            <a:ext cx="377547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Warehouse Barcode Scanning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4657725" y="3643312"/>
            <a:ext cx="2971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 automated pre-dispatch barcode verification to completely eliminate the 33% "Wrong Item Shipped" customer return root cause.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8391525" y="3309937"/>
            <a:ext cx="377547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Automated Stock Triggers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8391525" y="3643312"/>
            <a:ext cx="2971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Configure dynamic DAX alert thresholds in Power BI to trigger automated reorder requests when high-volume SKUs reach safety limits.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/>
          <p:nvPr/>
        </p:nvSpPr>
        <p:spPr>
          <a:xfrm>
            <a:off x="609600" y="2347912"/>
            <a:ext cx="3505200" cy="3057525"/>
          </a:xfrm>
          <a:prstGeom prst="roundRect">
            <a:avLst>
              <a:gd fmla="val 373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4343400" y="2347912"/>
            <a:ext cx="3505200" cy="3057525"/>
          </a:xfrm>
          <a:prstGeom prst="roundRect">
            <a:avLst>
              <a:gd fmla="val 373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8077200" y="2238375"/>
            <a:ext cx="3505200" cy="3276600"/>
          </a:xfrm>
          <a:prstGeom prst="roundRect">
            <a:avLst>
              <a:gd fmla="val 348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923925" y="4729162"/>
            <a:ext cx="28765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4657725" y="4729162"/>
            <a:ext cx="28765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8391525" y="4838700"/>
            <a:ext cx="28765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3" name="Google Shape;3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6622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26622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2552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3462" y="2786062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2975" y="2786062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676525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 txBox="1"/>
          <p:nvPr/>
        </p:nvSpPr>
        <p:spPr>
          <a:xfrm>
            <a:off x="9544050" y="666750"/>
            <a:ext cx="2547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Revenue &amp; Partner Optimization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609600" y="457200"/>
            <a:ext cx="7405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09. COMMERCIAL GROWTH</a:t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609600" y="666750"/>
            <a:ext cx="777597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Commercial Strategy Recommendations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923925" y="4881562"/>
            <a:ext cx="2971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Protects Top 20% Revenue Accounts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4657725" y="4881562"/>
            <a:ext cx="2971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Lowers Cost per Unit Ingested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8391525" y="4991100"/>
            <a:ext cx="2971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Reduces Transit Lead Times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923925" y="3309937"/>
            <a:ext cx="377547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VIP Account Loyalty Tiering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923925" y="3643312"/>
            <a:ext cx="2971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Establish priority fulfillment protocols and dedicated account managers for high-frequency clients across Lagos and Ibadan.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4657725" y="3309937"/>
            <a:ext cx="377547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Supplier Volume Contracts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4657725" y="3643312"/>
            <a:ext cx="2971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Leverage strong unit sales velocity with key vendors (Supplier 1, Supplier 10) to negotiate volume rebates and preferred lead times.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8391525" y="3200400"/>
            <a:ext cx="312039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Regional Hub Stock Rebalancing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8391525" y="3752850"/>
            <a:ext cx="2971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Reallocate inventory holding ratios toward Kano and Lagos fulfillment centers to align stock placement directly with regional demand.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/>
          <p:nvPr/>
        </p:nvSpPr>
        <p:spPr>
          <a:xfrm>
            <a:off x="609600" y="2636043"/>
            <a:ext cx="3840360" cy="2443162"/>
          </a:xfrm>
          <a:prstGeom prst="roundRect">
            <a:avLst>
              <a:gd fmla="val 62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4754760" y="2476500"/>
            <a:ext cx="6827639" cy="819150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3"/>
          <p:cNvSpPr/>
          <p:nvPr/>
        </p:nvSpPr>
        <p:spPr>
          <a:xfrm>
            <a:off x="4754760" y="3448050"/>
            <a:ext cx="6827639" cy="819150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4754760" y="4419600"/>
            <a:ext cx="6827639" cy="819150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9" name="Google Shape;3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4785" y="267652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4785" y="364807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4785" y="461962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9085" y="27908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9085" y="37623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5273" y="473392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3"/>
          <p:cNvSpPr txBox="1"/>
          <p:nvPr/>
        </p:nvSpPr>
        <p:spPr>
          <a:xfrm>
            <a:off x="10067925" y="666750"/>
            <a:ext cx="1893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Value Delivery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609600" y="457200"/>
            <a:ext cx="7715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10. PROJECTED RETURN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609600" y="666750"/>
            <a:ext cx="810101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Expected Business Impact &amp; Projected ROI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570086" y="2988468"/>
            <a:ext cx="391938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PROJECTED BOTTOM-LINE GAIN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570086" y="3283743"/>
            <a:ext cx="391938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059669"/>
                </a:solidFill>
                <a:latin typeface="Space Grotesk"/>
                <a:ea typeface="Space Grotesk"/>
                <a:cs typeface="Space Grotesk"/>
                <a:sym typeface="Space Grotesk"/>
              </a:rPr>
              <a:t>+$1.8M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570086" y="4083843"/>
            <a:ext cx="3919388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Annualized margin recovery through reduced return handling, reduced transit penalties, and optimized stock availability.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5564385" y="2681287"/>
            <a:ext cx="662761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25% Reduction in Delivery Delays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5564385" y="2919412"/>
            <a:ext cx="662761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Compressing overall delay rates down from 40% to under 15% across key freight corridors.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5564385" y="3652837"/>
            <a:ext cx="662761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30% Decrease in Order Returns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5564385" y="3890962"/>
            <a:ext cx="63936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Eliminating mispacks through warehouse verification scan checks prior to dispatch.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5564385" y="4624387"/>
            <a:ext cx="653831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15% Lift in Account Lifetime Value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5564385" y="4862512"/>
            <a:ext cx="62269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Retaining high-value repeat clients with reliable fulfillment and VIP service tiering.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"/>
          <p:cNvSpPr/>
          <p:nvPr/>
        </p:nvSpPr>
        <p:spPr>
          <a:xfrm>
            <a:off x="609600" y="1352550"/>
            <a:ext cx="5362575" cy="5048250"/>
          </a:xfrm>
          <a:prstGeom prst="roundRect">
            <a:avLst>
              <a:gd fmla="val 22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6238875" y="1352550"/>
            <a:ext cx="5343525" cy="5048250"/>
          </a:xfrm>
          <a:prstGeom prst="roundRect">
            <a:avLst>
              <a:gd fmla="val 226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3" name="Google Shape;3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16668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5575" y="165735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4"/>
          <p:cNvSpPr txBox="1"/>
          <p:nvPr/>
        </p:nvSpPr>
        <p:spPr>
          <a:xfrm>
            <a:off x="9553575" y="666750"/>
            <a:ext cx="25360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Leadership Decision Framework</a:t>
            </a:r>
            <a:endParaRPr/>
          </a:p>
        </p:txBody>
      </p:sp>
      <p:sp>
        <p:nvSpPr>
          <p:cNvPr id="356" name="Google Shape;356;p24"/>
          <p:cNvSpPr txBox="1"/>
          <p:nvPr/>
        </p:nvSpPr>
        <p:spPr>
          <a:xfrm>
            <a:off x="609600" y="457200"/>
            <a:ext cx="64889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11. SUMMARY</a:t>
            </a:r>
            <a:endParaRPr/>
          </a:p>
        </p:txBody>
      </p:sp>
      <p:sp>
        <p:nvSpPr>
          <p:cNvPr id="357" name="Google Shape;357;p24"/>
          <p:cNvSpPr txBox="1"/>
          <p:nvPr/>
        </p:nvSpPr>
        <p:spPr>
          <a:xfrm>
            <a:off x="609600" y="666750"/>
            <a:ext cx="681335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 &amp; Immediate Next Steps</a:t>
            </a:r>
            <a:endParaRPr/>
          </a:p>
        </p:txBody>
      </p:sp>
      <p:sp>
        <p:nvSpPr>
          <p:cNvPr id="358" name="Google Shape;358;p24"/>
          <p:cNvSpPr txBox="1"/>
          <p:nvPr/>
        </p:nvSpPr>
        <p:spPr>
          <a:xfrm>
            <a:off x="885825" y="1628775"/>
            <a:ext cx="631328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Takeaways</a:t>
            </a:r>
            <a:endParaRPr/>
          </a:p>
        </p:txBody>
      </p:sp>
      <p:sp>
        <p:nvSpPr>
          <p:cNvPr id="359" name="Google Shape;359;p24"/>
          <p:cNvSpPr txBox="1"/>
          <p:nvPr/>
        </p:nvSpPr>
        <p:spPr>
          <a:xfrm>
            <a:off x="885825" y="2019300"/>
            <a:ext cx="4905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SwiftLog possesses strong market demand, generating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$14.81M revenue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across 5,000 orders.</a:t>
            </a:r>
            <a:endParaRPr/>
          </a:p>
        </p:txBody>
      </p:sp>
      <p:sp>
        <p:nvSpPr>
          <p:cNvPr id="360" name="Google Shape;360;p24"/>
          <p:cNvSpPr txBox="1"/>
          <p:nvPr/>
        </p:nvSpPr>
        <p:spPr>
          <a:xfrm>
            <a:off x="885825" y="2609850"/>
            <a:ext cx="4905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Resolving the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40% transit delay bottleneck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unlocks immediate operational capacity and customer satisfaction.</a:t>
            </a:r>
            <a:endParaRPr/>
          </a:p>
        </p:txBody>
      </p:sp>
      <p:sp>
        <p:nvSpPr>
          <p:cNvPr id="361" name="Google Shape;361;p24"/>
          <p:cNvSpPr txBox="1"/>
          <p:nvPr/>
        </p:nvSpPr>
        <p:spPr>
          <a:xfrm>
            <a:off x="885825" y="3200400"/>
            <a:ext cx="4905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Power BI operational dashboards now provide real-time visibility across all 5 key functional areas.</a:t>
            </a:r>
            <a:endParaRPr/>
          </a:p>
        </p:txBody>
      </p:sp>
      <p:sp>
        <p:nvSpPr>
          <p:cNvPr id="362" name="Google Shape;362;p24"/>
          <p:cNvSpPr txBox="1"/>
          <p:nvPr/>
        </p:nvSpPr>
        <p:spPr>
          <a:xfrm>
            <a:off x="6505575" y="1619250"/>
            <a:ext cx="56864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Immediate Next Steps</a:t>
            </a:r>
            <a:endParaRPr/>
          </a:p>
        </p:txBody>
      </p:sp>
      <p:sp>
        <p:nvSpPr>
          <p:cNvPr id="363" name="Google Shape;363;p24"/>
          <p:cNvSpPr txBox="1"/>
          <p:nvPr/>
        </p:nvSpPr>
        <p:spPr>
          <a:xfrm>
            <a:off x="6505575" y="2009775"/>
            <a:ext cx="4905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Approve Power BI Alert Integration: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Authorize automated low-stock triggers for top 10 SKUs.</a:t>
            </a:r>
            <a:endParaRPr/>
          </a:p>
        </p:txBody>
      </p:sp>
      <p:sp>
        <p:nvSpPr>
          <p:cNvPr id="364" name="Google Shape;364;p24"/>
          <p:cNvSpPr txBox="1"/>
          <p:nvPr/>
        </p:nvSpPr>
        <p:spPr>
          <a:xfrm>
            <a:off x="6505575" y="2600325"/>
            <a:ext cx="4905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Initiate 3PL SLA Re-negotiations: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Apply strict delay penalty clauses starting Q3.</a:t>
            </a:r>
            <a:endParaRPr/>
          </a:p>
        </p:txBody>
      </p:sp>
      <p:sp>
        <p:nvSpPr>
          <p:cNvPr id="365" name="Google Shape;365;p24"/>
          <p:cNvSpPr txBox="1"/>
          <p:nvPr/>
        </p:nvSpPr>
        <p:spPr>
          <a:xfrm>
            <a:off x="6505575" y="3190875"/>
            <a:ext cx="4905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Launch Barcode Verification Pilot: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Mandate pre-dispatch scans at Kano &amp; Lagos warehouses.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5"/>
          <p:cNvSpPr/>
          <p:nvPr/>
        </p:nvSpPr>
        <p:spPr>
          <a:xfrm>
            <a:off x="4381500" y="4167187"/>
            <a:ext cx="3429000" cy="828675"/>
          </a:xfrm>
          <a:prstGeom prst="roundRect">
            <a:avLst>
              <a:gd fmla="val 1379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1" name="Google Shape;3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862137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0" y="201453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5"/>
          <p:cNvSpPr txBox="1"/>
          <p:nvPr/>
        </p:nvSpPr>
        <p:spPr>
          <a:xfrm>
            <a:off x="4389536" y="2738437"/>
            <a:ext cx="3412926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You!</a:t>
            </a:r>
            <a:endParaRPr/>
          </a:p>
        </p:txBody>
      </p:sp>
      <p:sp>
        <p:nvSpPr>
          <p:cNvPr id="374" name="Google Shape;374;p25"/>
          <p:cNvSpPr txBox="1"/>
          <p:nvPr/>
        </p:nvSpPr>
        <p:spPr>
          <a:xfrm>
            <a:off x="2803921" y="3519487"/>
            <a:ext cx="658415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 for Executive Questions &amp; Strategic Discussion</a:t>
            </a:r>
            <a:endParaRPr/>
          </a:p>
        </p:txBody>
      </p:sp>
      <p:sp>
        <p:nvSpPr>
          <p:cNvPr id="375" name="Google Shape;375;p25"/>
          <p:cNvSpPr txBox="1"/>
          <p:nvPr/>
        </p:nvSpPr>
        <p:spPr>
          <a:xfrm>
            <a:off x="4441031" y="4367212"/>
            <a:ext cx="3309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Aisha Mutiu Eniola</a:t>
            </a:r>
            <a:endParaRPr/>
          </a:p>
        </p:txBody>
      </p:sp>
      <p:sp>
        <p:nvSpPr>
          <p:cNvPr id="376" name="Google Shape;376;p25"/>
          <p:cNvSpPr txBox="1"/>
          <p:nvPr/>
        </p:nvSpPr>
        <p:spPr>
          <a:xfrm>
            <a:off x="4441031" y="4624387"/>
            <a:ext cx="3309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Lead Data Analyst Intern | AnalystLab Africa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6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4" name="Google Shape;38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87" name="Google Shape;387;p26"/>
          <p:cNvSpPr txBox="1"/>
          <p:nvPr/>
        </p:nvSpPr>
        <p:spPr>
          <a:xfrm>
            <a:off x="1666875" y="1038225"/>
            <a:ext cx="4405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https://www.kardex.com/hubfs/Etra01_FeaturedImage.jpg</a:t>
            </a:r>
            <a:endParaRPr/>
          </a:p>
        </p:txBody>
      </p:sp>
      <p:sp>
        <p:nvSpPr>
          <p:cNvPr id="388" name="Google Shape;388;p26"/>
          <p:cNvSpPr txBox="1"/>
          <p:nvPr/>
        </p:nvSpPr>
        <p:spPr>
          <a:xfrm>
            <a:off x="1666875" y="1238250"/>
            <a:ext cx="23455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www.kardex.com</a:t>
            </a:r>
            <a:endParaRPr/>
          </a:p>
        </p:txBody>
      </p:sp>
      <p:sp>
        <p:nvSpPr>
          <p:cNvPr id="389" name="Google Shape;389;p26"/>
          <p:cNvSpPr txBox="1"/>
          <p:nvPr/>
        </p:nvSpPr>
        <p:spPr>
          <a:xfrm>
            <a:off x="1666875" y="1809750"/>
            <a:ext cx="6167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https://mitridat-container.com/wp-content/uploads/2025/11/22-900x550.webp</a:t>
            </a:r>
            <a:endParaRPr/>
          </a:p>
        </p:txBody>
      </p:sp>
      <p:sp>
        <p:nvSpPr>
          <p:cNvPr id="390" name="Google Shape;390;p26"/>
          <p:cNvSpPr txBox="1"/>
          <p:nvPr/>
        </p:nvSpPr>
        <p:spPr>
          <a:xfrm>
            <a:off x="1666875" y="2009775"/>
            <a:ext cx="28694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mitridat-container.com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